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3" r:id="rId4"/>
    <p:sldId id="270" r:id="rId5"/>
    <p:sldId id="271" r:id="rId6"/>
    <p:sldId id="272" r:id="rId7"/>
    <p:sldId id="274" r:id="rId8"/>
    <p:sldId id="275" r:id="rId9"/>
    <p:sldId id="277" r:id="rId10"/>
    <p:sldId id="261" r:id="rId11"/>
    <p:sldId id="267" r:id="rId12"/>
    <p:sldId id="266" r:id="rId13"/>
    <p:sldId id="265" r:id="rId14"/>
    <p:sldId id="278" r:id="rId15"/>
    <p:sldId id="262" r:id="rId16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2787"/>
    <p:restoredTop sz="90929"/>
  </p:normalViewPr>
  <p:slideViewPr>
    <p:cSldViewPr>
      <p:cViewPr varScale="1">
        <p:scale>
          <a:sx n="85" d="100"/>
          <a:sy n="85" d="100"/>
        </p:scale>
        <p:origin x="-60" y="-4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fr-F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 altLang="fr-FR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fr-FR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53CC563-06D0-4DD5-8FBF-F1828B3C798E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30222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fr-F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 altLang="fr-FR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fr-F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8104FAE-8D83-4592-A6E5-93011490FDE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430350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9A0626-17EC-4B5B-9324-90001650A5FF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8EE837-A175-478B-A8C0-C6624AC19E22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D499A3-670D-4319-A022-16DB1DF1094D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F56E38-414D-43CD-B34E-009E6D458FAE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8F1981-A8CF-41FA-A81C-616755EBFF1A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BAB1D7-B9C9-448A-9BF9-4FE9ACE1D4F4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3B5877-3984-4859-AF38-8C8B5F4BFFFE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12F9AC-E9F8-4DB2-84A0-5E031779337F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92AC87-A3FC-49F6-B03F-5CBE5FCE75B6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8E7E6D-031E-47A9-B925-2E0A12AC18A7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2866FD-D0EE-4B13-903B-E326572EF27B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A2926F-127A-40DD-9BD9-3603D76F15A3}" type="slidenum">
              <a:rPr lang="fr-FR" altLang="fr-FR"/>
              <a:pPr/>
              <a:t>12</a:t>
            </a:fld>
            <a:endParaRPr lang="fr-FR" altLang="fr-FR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126C6A-350B-40F5-91ED-A087442DB7E5}" type="slidenum">
              <a:rPr lang="fr-FR" altLang="fr-FR"/>
              <a:pPr/>
              <a:t>13</a:t>
            </a:fld>
            <a:endParaRPr lang="fr-FR" altLang="fr-FR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1D75EC-D6BE-4C4F-9FF2-B3F91D3E20CC}" type="slidenum">
              <a:rPr lang="fr-FR" altLang="fr-FR"/>
              <a:pPr/>
              <a:t>14</a:t>
            </a:fld>
            <a:endParaRPr lang="fr-FR" altLang="fr-FR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33C064-621C-463A-820E-CC0850809ED7}" type="slidenum">
              <a:rPr lang="fr-FR" altLang="fr-FR"/>
              <a:pPr/>
              <a:t>15</a:t>
            </a:fld>
            <a:endParaRPr lang="fr-FR" altLang="fr-FR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4100" name="Rectangle 4"/>
              <p:cNvSpPr>
                <a:spLocks noChangeArrowheads="1"/>
              </p:cNvSpPr>
              <p:nvPr/>
            </p:nvSpPr>
            <p:spPr bwMode="ltGray">
              <a:xfrm>
                <a:off x="0" y="1248"/>
                <a:ext cx="5760" cy="11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01" name="Rectangle 5" descr="Cacback"/>
              <p:cNvSpPr>
                <a:spLocks noChangeArrowheads="1"/>
              </p:cNvSpPr>
              <p:nvPr/>
            </p:nvSpPr>
            <p:spPr bwMode="ltGray">
              <a:xfrm>
                <a:off x="0" y="0"/>
                <a:ext cx="1119" cy="432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102" name="Rectangle 6"/>
            <p:cNvSpPr>
              <a:spLocks noChangeArrowheads="1"/>
            </p:cNvSpPr>
            <p:nvPr/>
          </p:nvSpPr>
          <p:spPr bwMode="white">
            <a:xfrm>
              <a:off x="816" y="2592"/>
              <a:ext cx="701" cy="172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03" name="Group 7"/>
          <p:cNvGrpSpPr>
            <a:grpSpLocks/>
          </p:cNvGrpSpPr>
          <p:nvPr/>
        </p:nvGrpSpPr>
        <p:grpSpPr bwMode="auto">
          <a:xfrm>
            <a:off x="0" y="1371600"/>
            <a:ext cx="8405813" cy="1246188"/>
            <a:chOff x="0" y="864"/>
            <a:chExt cx="5295" cy="785"/>
          </a:xfrm>
        </p:grpSpPr>
        <p:sp>
          <p:nvSpPr>
            <p:cNvPr id="4104" name="Freeform 8"/>
            <p:cNvSpPr>
              <a:spLocks/>
            </p:cNvSpPr>
            <p:nvPr/>
          </p:nvSpPr>
          <p:spPr bwMode="auto">
            <a:xfrm rot="-507431">
              <a:off x="0" y="1477"/>
              <a:ext cx="1059" cy="172"/>
            </a:xfrm>
            <a:custGeom>
              <a:avLst/>
              <a:gdLst>
                <a:gd name="T0" fmla="*/ 1059 w 1059"/>
                <a:gd name="T1" fmla="*/ 0 h 172"/>
                <a:gd name="T2" fmla="*/ 147 w 1059"/>
                <a:gd name="T3" fmla="*/ 144 h 172"/>
                <a:gd name="T4" fmla="*/ 177 w 1059"/>
                <a:gd name="T5" fmla="*/ 171 h 172"/>
                <a:gd name="T6" fmla="*/ 1059 w 1059"/>
                <a:gd name="T7" fmla="*/ 24 h 172"/>
                <a:gd name="T8" fmla="*/ 1059 w 105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9" h="172">
                  <a:moveTo>
                    <a:pt x="1059" y="0"/>
                  </a:moveTo>
                  <a:cubicBezTo>
                    <a:pt x="543" y="45"/>
                    <a:pt x="291" y="112"/>
                    <a:pt x="147" y="144"/>
                  </a:cubicBezTo>
                  <a:cubicBezTo>
                    <a:pt x="0" y="172"/>
                    <a:pt x="153" y="147"/>
                    <a:pt x="177" y="171"/>
                  </a:cubicBezTo>
                  <a:cubicBezTo>
                    <a:pt x="329" y="151"/>
                    <a:pt x="339" y="99"/>
                    <a:pt x="1059" y="24"/>
                  </a:cubicBezTo>
                  <a:cubicBezTo>
                    <a:pt x="1059" y="24"/>
                    <a:pt x="1059" y="0"/>
                    <a:pt x="1059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Freeform 9"/>
            <p:cNvSpPr>
              <a:spLocks/>
            </p:cNvSpPr>
            <p:nvPr/>
          </p:nvSpPr>
          <p:spPr bwMode="auto">
            <a:xfrm rot="-507431">
              <a:off x="1173" y="864"/>
              <a:ext cx="4122" cy="630"/>
            </a:xfrm>
            <a:custGeom>
              <a:avLst/>
              <a:gdLst>
                <a:gd name="T0" fmla="*/ 0 w 4122"/>
                <a:gd name="T1" fmla="*/ 204 h 630"/>
                <a:gd name="T2" fmla="*/ 3544 w 4122"/>
                <a:gd name="T3" fmla="*/ 348 h 630"/>
                <a:gd name="T4" fmla="*/ 3680 w 4122"/>
                <a:gd name="T5" fmla="*/ 630 h 630"/>
                <a:gd name="T6" fmla="*/ 3616 w 4122"/>
                <a:gd name="T7" fmla="*/ 624 h 630"/>
                <a:gd name="T8" fmla="*/ 3534 w 4122"/>
                <a:gd name="T9" fmla="*/ 368 h 630"/>
                <a:gd name="T10" fmla="*/ 17 w 4122"/>
                <a:gd name="T11" fmla="*/ 231 h 630"/>
                <a:gd name="T12" fmla="*/ 0 w 4122"/>
                <a:gd name="T13" fmla="*/ 204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2" h="630">
                  <a:moveTo>
                    <a:pt x="0" y="204"/>
                  </a:moveTo>
                  <a:cubicBezTo>
                    <a:pt x="255" y="198"/>
                    <a:pt x="1686" y="0"/>
                    <a:pt x="3544" y="348"/>
                  </a:cubicBezTo>
                  <a:cubicBezTo>
                    <a:pt x="4122" y="464"/>
                    <a:pt x="3754" y="614"/>
                    <a:pt x="3680" y="630"/>
                  </a:cubicBezTo>
                  <a:cubicBezTo>
                    <a:pt x="3680" y="630"/>
                    <a:pt x="3642" y="626"/>
                    <a:pt x="3616" y="624"/>
                  </a:cubicBezTo>
                  <a:cubicBezTo>
                    <a:pt x="3678" y="612"/>
                    <a:pt x="4118" y="488"/>
                    <a:pt x="3534" y="368"/>
                  </a:cubicBezTo>
                  <a:cubicBezTo>
                    <a:pt x="2029" y="98"/>
                    <a:pt x="696" y="156"/>
                    <a:pt x="17" y="231"/>
                  </a:cubicBezTo>
                  <a:cubicBezTo>
                    <a:pt x="17" y="231"/>
                    <a:pt x="0" y="204"/>
                    <a:pt x="0" y="20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4106" name="Group 10"/>
            <p:cNvGrpSpPr>
              <a:grpSpLocks/>
            </p:cNvGrpSpPr>
            <p:nvPr/>
          </p:nvGrpSpPr>
          <p:grpSpPr bwMode="auto">
            <a:xfrm>
              <a:off x="1008" y="1248"/>
              <a:ext cx="288" cy="288"/>
              <a:chOff x="1033" y="326"/>
              <a:chExt cx="192" cy="192"/>
            </a:xfrm>
          </p:grpSpPr>
          <p:sp>
            <p:nvSpPr>
              <p:cNvPr id="4107" name="Oval 11"/>
              <p:cNvSpPr>
                <a:spLocks noChangeArrowheads="1"/>
              </p:cNvSpPr>
              <p:nvPr/>
            </p:nvSpPr>
            <p:spPr bwMode="auto">
              <a:xfrm>
                <a:off x="1033" y="326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08" name="Oval 12"/>
              <p:cNvSpPr>
                <a:spLocks noChangeArrowheads="1"/>
              </p:cNvSpPr>
              <p:nvPr/>
            </p:nvSpPr>
            <p:spPr bwMode="auto">
              <a:xfrm>
                <a:off x="1129" y="377"/>
                <a:ext cx="47" cy="48"/>
              </a:xfrm>
              <a:prstGeom prst="ellipse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09" name="Oval 13"/>
              <p:cNvSpPr>
                <a:spLocks noChangeArrowheads="1"/>
              </p:cNvSpPr>
              <p:nvPr/>
            </p:nvSpPr>
            <p:spPr bwMode="auto">
              <a:xfrm>
                <a:off x="1063" y="350"/>
                <a:ext cx="47" cy="48"/>
              </a:xfrm>
              <a:prstGeom prst="ellipse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10" name="Oval 14"/>
              <p:cNvSpPr>
                <a:spLocks noChangeArrowheads="1"/>
              </p:cNvSpPr>
              <p:nvPr/>
            </p:nvSpPr>
            <p:spPr bwMode="auto">
              <a:xfrm>
                <a:off x="1063" y="404"/>
                <a:ext cx="47" cy="48"/>
              </a:xfrm>
              <a:prstGeom prst="ellipse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11" name="Oval 15"/>
              <p:cNvSpPr>
                <a:spLocks noChangeArrowheads="1"/>
              </p:cNvSpPr>
              <p:nvPr/>
            </p:nvSpPr>
            <p:spPr bwMode="auto">
              <a:xfrm>
                <a:off x="1108" y="422"/>
                <a:ext cx="47" cy="48"/>
              </a:xfrm>
              <a:prstGeom prst="ellipse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12" name="Oval 16"/>
              <p:cNvSpPr>
                <a:spLocks noChangeArrowheads="1"/>
              </p:cNvSpPr>
              <p:nvPr/>
            </p:nvSpPr>
            <p:spPr bwMode="auto">
              <a:xfrm>
                <a:off x="1168" y="416"/>
                <a:ext cx="47" cy="48"/>
              </a:xfrm>
              <a:prstGeom prst="ellipse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13" name="Oval 17"/>
              <p:cNvSpPr>
                <a:spLocks noChangeArrowheads="1"/>
              </p:cNvSpPr>
              <p:nvPr/>
            </p:nvSpPr>
            <p:spPr bwMode="auto">
              <a:xfrm>
                <a:off x="1120" y="461"/>
                <a:ext cx="47" cy="48"/>
              </a:xfrm>
              <a:prstGeom prst="ellipse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14" name="Oval 18"/>
              <p:cNvSpPr>
                <a:spLocks noChangeArrowheads="1"/>
              </p:cNvSpPr>
              <p:nvPr/>
            </p:nvSpPr>
            <p:spPr bwMode="auto">
              <a:xfrm>
                <a:off x="1063" y="452"/>
                <a:ext cx="47" cy="48"/>
              </a:xfrm>
              <a:prstGeom prst="ellipse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15" name="Oval 19"/>
              <p:cNvSpPr>
                <a:spLocks noChangeArrowheads="1"/>
              </p:cNvSpPr>
              <p:nvPr/>
            </p:nvSpPr>
            <p:spPr bwMode="auto">
              <a:xfrm>
                <a:off x="1117" y="329"/>
                <a:ext cx="47" cy="48"/>
              </a:xfrm>
              <a:prstGeom prst="ellipse">
                <a:avLst/>
              </a:prstGeom>
              <a:gradFill rotWithShape="0">
                <a:gsLst>
                  <a:gs pos="0">
                    <a:srgbClr val="FFFFCC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4116" name="Rectangle 20"/>
          <p:cNvSpPr>
            <a:spLocks noGrp="1" noChangeArrowheads="1"/>
          </p:cNvSpPr>
          <p:nvPr>
            <p:ph type="ctrTitle"/>
          </p:nvPr>
        </p:nvSpPr>
        <p:spPr>
          <a:xfrm>
            <a:off x="1828800" y="2133600"/>
            <a:ext cx="7315200" cy="1600200"/>
          </a:xfrm>
        </p:spPr>
        <p:txBody>
          <a:bodyPr/>
          <a:lstStyle>
            <a:lvl1pPr algn="l">
              <a:defRPr/>
            </a:lvl1pPr>
          </a:lstStyle>
          <a:p>
            <a:pPr lvl="0"/>
            <a:endParaRPr lang="fr-FR" altLang="fr-FR" noProof="0"/>
          </a:p>
        </p:txBody>
      </p:sp>
      <p:sp>
        <p:nvSpPr>
          <p:cNvPr id="4117" name="Rectangle 2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fr-FR" altLang="fr-FR" noProof="0"/>
              <a:t>Cliquez pour modifier le style des sous-titres du masque</a:t>
            </a:r>
          </a:p>
        </p:txBody>
      </p:sp>
      <p:sp>
        <p:nvSpPr>
          <p:cNvPr id="4118" name="Rectangle 22"/>
          <p:cNvSpPr>
            <a:spLocks noGrp="1" noChangeArrowheads="1"/>
          </p:cNvSpPr>
          <p:nvPr>
            <p:ph type="dt" sz="half" idx="2"/>
          </p:nvPr>
        </p:nvSpPr>
        <p:spPr>
          <a:xfrm>
            <a:off x="1371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120" name="Rectangle 2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86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1B1A05F-AB1D-411E-9BFB-2089E3E3A980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CB9E45-A3B9-4672-94D5-DEBA924C440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6253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E9269C-D622-440C-BB9C-CFA856C6045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5639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4341B-D887-4F10-A7AE-2A3B2188D36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9123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196060-71E9-4126-8E02-4317F611EF2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1077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459FA7-13AF-4BD4-90A2-9321E816BCD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5941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B5643C-FEA6-4404-A1A8-CAFDA84C2C57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6079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8A7FA3-BBDF-454B-9D72-6A47223FC6A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9304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750FE-4D47-49EC-8104-15B22DE2957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3323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BBBD49-AA4B-4C36-811A-637B883F5BD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7965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67525" y="457200"/>
            <a:ext cx="2058988" cy="5638800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029325" cy="56388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8A979B-52CE-4D6E-B3AC-06D5F5CF31C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3876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-23813" y="-141288"/>
            <a:ext cx="9167813" cy="6999288"/>
            <a:chOff x="-15" y="-89"/>
            <a:chExt cx="5775" cy="4409"/>
          </a:xfrm>
        </p:grpSpPr>
        <p:sp>
          <p:nvSpPr>
            <p:cNvPr id="3075" name="Rectangle 3"/>
            <p:cNvSpPr>
              <a:spLocks noChangeArrowheads="1"/>
            </p:cNvSpPr>
            <p:nvPr/>
          </p:nvSpPr>
          <p:spPr bwMode="ltGray">
            <a:xfrm>
              <a:off x="0" y="301"/>
              <a:ext cx="5760" cy="72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6" name="Rectangle 4" descr="Cacback"/>
            <p:cNvSpPr>
              <a:spLocks noChangeArrowheads="1"/>
            </p:cNvSpPr>
            <p:nvPr/>
          </p:nvSpPr>
          <p:spPr bwMode="ltGray">
            <a:xfrm>
              <a:off x="0" y="0"/>
              <a:ext cx="1119" cy="4320"/>
            </a:xfrm>
            <a:prstGeom prst="rect">
              <a:avLst/>
            </a:prstGeom>
            <a:blipFill dpi="0" rotWithShape="0">
              <a:blip r:embed="rId13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3077" name="Group 5"/>
            <p:cNvGrpSpPr>
              <a:grpSpLocks/>
            </p:cNvGrpSpPr>
            <p:nvPr/>
          </p:nvGrpSpPr>
          <p:grpSpPr bwMode="auto">
            <a:xfrm>
              <a:off x="-15" y="-89"/>
              <a:ext cx="5295" cy="785"/>
              <a:chOff x="20" y="-89"/>
              <a:chExt cx="5295" cy="785"/>
            </a:xfrm>
          </p:grpSpPr>
          <p:sp>
            <p:nvSpPr>
              <p:cNvPr id="3078" name="Freeform 6"/>
              <p:cNvSpPr>
                <a:spLocks/>
              </p:cNvSpPr>
              <p:nvPr/>
            </p:nvSpPr>
            <p:spPr bwMode="auto">
              <a:xfrm rot="-507431">
                <a:off x="20" y="524"/>
                <a:ext cx="1059" cy="172"/>
              </a:xfrm>
              <a:custGeom>
                <a:avLst/>
                <a:gdLst>
                  <a:gd name="T0" fmla="*/ 1059 w 1059"/>
                  <a:gd name="T1" fmla="*/ 0 h 172"/>
                  <a:gd name="T2" fmla="*/ 147 w 1059"/>
                  <a:gd name="T3" fmla="*/ 144 h 172"/>
                  <a:gd name="T4" fmla="*/ 177 w 1059"/>
                  <a:gd name="T5" fmla="*/ 171 h 172"/>
                  <a:gd name="T6" fmla="*/ 1059 w 1059"/>
                  <a:gd name="T7" fmla="*/ 24 h 172"/>
                  <a:gd name="T8" fmla="*/ 1059 w 1059"/>
                  <a:gd name="T9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9" h="172">
                    <a:moveTo>
                      <a:pt x="1059" y="0"/>
                    </a:moveTo>
                    <a:cubicBezTo>
                      <a:pt x="543" y="45"/>
                      <a:pt x="291" y="112"/>
                      <a:pt x="147" y="144"/>
                    </a:cubicBezTo>
                    <a:cubicBezTo>
                      <a:pt x="0" y="172"/>
                      <a:pt x="153" y="147"/>
                      <a:pt x="177" y="171"/>
                    </a:cubicBezTo>
                    <a:cubicBezTo>
                      <a:pt x="329" y="151"/>
                      <a:pt x="339" y="99"/>
                      <a:pt x="1059" y="24"/>
                    </a:cubicBezTo>
                    <a:cubicBezTo>
                      <a:pt x="1059" y="24"/>
                      <a:pt x="1059" y="0"/>
                      <a:pt x="1059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079" name="Freeform 7"/>
              <p:cNvSpPr>
                <a:spLocks/>
              </p:cNvSpPr>
              <p:nvPr/>
            </p:nvSpPr>
            <p:spPr bwMode="auto">
              <a:xfrm rot="-507431">
                <a:off x="1193" y="-89"/>
                <a:ext cx="4122" cy="630"/>
              </a:xfrm>
              <a:custGeom>
                <a:avLst/>
                <a:gdLst>
                  <a:gd name="T0" fmla="*/ 0 w 4122"/>
                  <a:gd name="T1" fmla="*/ 204 h 630"/>
                  <a:gd name="T2" fmla="*/ 3544 w 4122"/>
                  <a:gd name="T3" fmla="*/ 348 h 630"/>
                  <a:gd name="T4" fmla="*/ 3680 w 4122"/>
                  <a:gd name="T5" fmla="*/ 630 h 630"/>
                  <a:gd name="T6" fmla="*/ 3616 w 4122"/>
                  <a:gd name="T7" fmla="*/ 624 h 630"/>
                  <a:gd name="T8" fmla="*/ 3534 w 4122"/>
                  <a:gd name="T9" fmla="*/ 368 h 630"/>
                  <a:gd name="T10" fmla="*/ 17 w 4122"/>
                  <a:gd name="T11" fmla="*/ 231 h 630"/>
                  <a:gd name="T12" fmla="*/ 0 w 4122"/>
                  <a:gd name="T13" fmla="*/ 204 h 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22" h="630">
                    <a:moveTo>
                      <a:pt x="0" y="204"/>
                    </a:moveTo>
                    <a:cubicBezTo>
                      <a:pt x="255" y="198"/>
                      <a:pt x="1686" y="0"/>
                      <a:pt x="3544" y="348"/>
                    </a:cubicBezTo>
                    <a:cubicBezTo>
                      <a:pt x="4122" y="464"/>
                      <a:pt x="3754" y="614"/>
                      <a:pt x="3680" y="630"/>
                    </a:cubicBezTo>
                    <a:cubicBezTo>
                      <a:pt x="3680" y="630"/>
                      <a:pt x="3642" y="626"/>
                      <a:pt x="3616" y="624"/>
                    </a:cubicBezTo>
                    <a:cubicBezTo>
                      <a:pt x="3678" y="612"/>
                      <a:pt x="4118" y="488"/>
                      <a:pt x="3534" y="368"/>
                    </a:cubicBezTo>
                    <a:cubicBezTo>
                      <a:pt x="2029" y="98"/>
                      <a:pt x="696" y="156"/>
                      <a:pt x="17" y="231"/>
                    </a:cubicBezTo>
                    <a:cubicBezTo>
                      <a:pt x="17" y="231"/>
                      <a:pt x="0" y="204"/>
                      <a:pt x="0" y="204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grpSp>
            <p:nvGrpSpPr>
              <p:cNvPr id="3080" name="Group 8"/>
              <p:cNvGrpSpPr>
                <a:grpSpLocks/>
              </p:cNvGrpSpPr>
              <p:nvPr/>
            </p:nvGrpSpPr>
            <p:grpSpPr bwMode="auto">
              <a:xfrm>
                <a:off x="1033" y="326"/>
                <a:ext cx="192" cy="192"/>
                <a:chOff x="1033" y="326"/>
                <a:chExt cx="192" cy="192"/>
              </a:xfrm>
            </p:grpSpPr>
            <p:sp>
              <p:nvSpPr>
                <p:cNvPr id="3081" name="Oval 9"/>
                <p:cNvSpPr>
                  <a:spLocks noChangeArrowheads="1"/>
                </p:cNvSpPr>
                <p:nvPr/>
              </p:nvSpPr>
              <p:spPr bwMode="auto">
                <a:xfrm>
                  <a:off x="1033" y="326"/>
                  <a:ext cx="192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2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082" name="Oval 10"/>
                <p:cNvSpPr>
                  <a:spLocks noChangeArrowheads="1"/>
                </p:cNvSpPr>
                <p:nvPr/>
              </p:nvSpPr>
              <p:spPr bwMode="auto">
                <a:xfrm>
                  <a:off x="1129" y="377"/>
                  <a:ext cx="47" cy="4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CC"/>
                    </a:gs>
                    <a:gs pos="100000">
                      <a:schemeClr val="bg2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083" name="Oval 11"/>
                <p:cNvSpPr>
                  <a:spLocks noChangeArrowheads="1"/>
                </p:cNvSpPr>
                <p:nvPr/>
              </p:nvSpPr>
              <p:spPr bwMode="auto">
                <a:xfrm>
                  <a:off x="1063" y="350"/>
                  <a:ext cx="47" cy="4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CC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084" name="Oval 12"/>
                <p:cNvSpPr>
                  <a:spLocks noChangeArrowheads="1"/>
                </p:cNvSpPr>
                <p:nvPr/>
              </p:nvSpPr>
              <p:spPr bwMode="auto">
                <a:xfrm>
                  <a:off x="1063" y="404"/>
                  <a:ext cx="47" cy="4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CC"/>
                    </a:gs>
                    <a:gs pos="100000">
                      <a:schemeClr val="bg2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085" name="Oval 13"/>
                <p:cNvSpPr>
                  <a:spLocks noChangeArrowheads="1"/>
                </p:cNvSpPr>
                <p:nvPr/>
              </p:nvSpPr>
              <p:spPr bwMode="auto">
                <a:xfrm>
                  <a:off x="1108" y="422"/>
                  <a:ext cx="47" cy="4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CC"/>
                    </a:gs>
                    <a:gs pos="100000">
                      <a:schemeClr val="bg2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086" name="Oval 14"/>
                <p:cNvSpPr>
                  <a:spLocks noChangeArrowheads="1"/>
                </p:cNvSpPr>
                <p:nvPr/>
              </p:nvSpPr>
              <p:spPr bwMode="auto">
                <a:xfrm>
                  <a:off x="1168" y="416"/>
                  <a:ext cx="47" cy="4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CC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087" name="Oval 15"/>
                <p:cNvSpPr>
                  <a:spLocks noChangeArrowheads="1"/>
                </p:cNvSpPr>
                <p:nvPr/>
              </p:nvSpPr>
              <p:spPr bwMode="auto">
                <a:xfrm>
                  <a:off x="1120" y="461"/>
                  <a:ext cx="47" cy="4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CC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088" name="Oval 16"/>
                <p:cNvSpPr>
                  <a:spLocks noChangeArrowheads="1"/>
                </p:cNvSpPr>
                <p:nvPr/>
              </p:nvSpPr>
              <p:spPr bwMode="auto">
                <a:xfrm>
                  <a:off x="1063" y="452"/>
                  <a:ext cx="47" cy="4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CC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089" name="Oval 17"/>
                <p:cNvSpPr>
                  <a:spLocks noChangeArrowheads="1"/>
                </p:cNvSpPr>
                <p:nvPr/>
              </p:nvSpPr>
              <p:spPr bwMode="auto">
                <a:xfrm>
                  <a:off x="1117" y="329"/>
                  <a:ext cx="47" cy="4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CC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  <p:sp>
          <p:nvSpPr>
            <p:cNvPr id="3090" name="Rectangle 18"/>
            <p:cNvSpPr>
              <a:spLocks noChangeArrowheads="1"/>
            </p:cNvSpPr>
            <p:nvPr/>
          </p:nvSpPr>
          <p:spPr bwMode="white">
            <a:xfrm>
              <a:off x="426" y="1185"/>
              <a:ext cx="701" cy="313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91" name="Rectangle 19"/>
          <p:cNvSpPr>
            <a:spLocks noGrp="1" noChangeArrowheads="1"/>
          </p:cNvSpPr>
          <p:nvPr>
            <p:ph type="title"/>
          </p:nvPr>
        </p:nvSpPr>
        <p:spPr bwMode="auto">
          <a:xfrm>
            <a:off x="1154113" y="457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3092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r>
              <a:rPr lang="fr-FR" altLang="fr-FR"/>
              <a:t>L'action par le produit</a:t>
            </a:r>
          </a:p>
        </p:txBody>
      </p:sp>
      <p:sp>
        <p:nvSpPr>
          <p:cNvPr id="3094" name="Rectangle 2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endParaRPr lang="fr-FR" altLang="fr-FR"/>
          </a:p>
        </p:txBody>
      </p:sp>
      <p:sp>
        <p:nvSpPr>
          <p:cNvPr id="3095" name="Rectangle 2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+mn-lt"/>
              </a:defRPr>
            </a:lvl1pPr>
          </a:lstStyle>
          <a:p>
            <a:fld id="{2E9D034B-F762-427D-87D5-ECD1435EBC35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Narrow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Narrow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Narrow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Narrow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Narrow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Narrow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Narrow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Narrow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0" y="2133600"/>
            <a:ext cx="6096000" cy="1600200"/>
          </a:xfrm>
        </p:spPr>
        <p:txBody>
          <a:bodyPr/>
          <a:lstStyle/>
          <a:p>
            <a:r>
              <a:rPr lang="fr-FR" altLang="fr-FR">
                <a:effectLst>
                  <a:outerShdw blurRad="38100" dist="38100" dir="2700000" algn="tl">
                    <a:srgbClr val="C0C0C0"/>
                  </a:outerShdw>
                </a:effectLst>
              </a:rPr>
              <a:t>Le cycle de vie du produit</a:t>
            </a:r>
            <a:endParaRPr lang="fr-FR" altLang="fr-FR"/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7620000" y="6477000"/>
            <a:ext cx="13652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 sz="1000" i="1"/>
              <a:t>Jc Duflanc – Joigny 89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84146-1E82-407A-A2EE-BA4A909B5455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4267200"/>
          </a:xfrm>
        </p:spPr>
        <p:txBody>
          <a:bodyPr/>
          <a:lstStyle/>
          <a:p>
            <a:r>
              <a:rPr lang="fr-FR" altLang="fr-FR"/>
              <a:t>Les produits constituent des réponses à des besoins exprimés (ou non). Pour être vendus, ils doivent se faire connaître, s’imposer face à la concurrence comme la meilleure réponse au besoin. </a:t>
            </a:r>
          </a:p>
          <a:p>
            <a:r>
              <a:rPr lang="fr-FR" altLang="fr-FR" b="1"/>
              <a:t>Les attentes des consommateurs changent, des produits nouveaux apparaissent : il faut s’adapter ou mourir.</a:t>
            </a:r>
            <a:endParaRPr lang="fr-FR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C81C-D550-43FD-8825-950027D9C450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2590800" y="1828800"/>
            <a:ext cx="5867400" cy="185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altLang="fr-FR" i="1"/>
              <a:t>Exemple :</a:t>
            </a:r>
            <a:endParaRPr lang="fr-FR" altLang="fr-FR" sz="3600"/>
          </a:p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fr-FR" altLang="fr-FR" sz="4000" b="1">
                <a:latin typeface="Simpson" pitchFamily="2" charset="0"/>
              </a:rPr>
              <a:t>Citroën 2 CV</a:t>
            </a:r>
          </a:p>
          <a:p>
            <a:pPr algn="ctr">
              <a:spcBef>
                <a:spcPct val="50000"/>
              </a:spcBef>
            </a:pPr>
            <a:r>
              <a:rPr lang="fr-FR" altLang="fr-FR" sz="4000" b="1">
                <a:latin typeface="Simpson" pitchFamily="2" charset="0"/>
              </a:rPr>
              <a:t>Le triomphe de la modestie...</a:t>
            </a:r>
            <a:r>
              <a:rPr lang="fr-FR" altLang="fr-FR" sz="2800" i="1"/>
              <a:t> </a:t>
            </a:r>
          </a:p>
        </p:txBody>
      </p:sp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609600"/>
            <a:ext cx="76200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6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495800"/>
            <a:ext cx="4473575" cy="200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3876-E70E-41D8-BE34-64A8F7FC3E85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990600" y="2286000"/>
            <a:ext cx="7010400" cy="322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 i="1">
                <a:solidFill>
                  <a:srgbClr val="000000"/>
                </a:solidFill>
                <a:latin typeface="Arial" charset="0"/>
              </a:rPr>
              <a:t>1935</a:t>
            </a:r>
            <a:r>
              <a:rPr lang="fr-FR" altLang="fr-FR" sz="1600" i="1">
                <a:latin typeface="Arial" charset="0"/>
              </a:rPr>
              <a:t>	</a:t>
            </a:r>
            <a:r>
              <a:rPr lang="fr-FR" altLang="fr-FR" sz="1600" i="1">
                <a:solidFill>
                  <a:srgbClr val="000000"/>
                </a:solidFill>
                <a:latin typeface="Arial" charset="0"/>
              </a:rPr>
              <a:t>Le styliste Flaminio Bertoni est le même qui conduit les études de 	style de la 11CV traction avant.</a:t>
            </a:r>
            <a:r>
              <a:rPr lang="fr-FR" altLang="fr-FR" sz="1600" i="1">
                <a:latin typeface="Arial" charset="0"/>
              </a:rPr>
              <a:t>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 sz="1600" i="1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 i="1">
                <a:solidFill>
                  <a:srgbClr val="000000"/>
                </a:solidFill>
                <a:latin typeface="Arial" charset="0"/>
              </a:rPr>
              <a:t>1937</a:t>
            </a:r>
            <a:r>
              <a:rPr lang="fr-FR" altLang="fr-FR" sz="1600" i="1">
                <a:latin typeface="Arial" charset="0"/>
              </a:rPr>
              <a:t>	</a:t>
            </a:r>
            <a:r>
              <a:rPr lang="fr-FR" altLang="fr-FR" sz="1600" i="1">
                <a:solidFill>
                  <a:srgbClr val="000000"/>
                </a:solidFill>
                <a:latin typeface="Arial" charset="0"/>
              </a:rPr>
              <a:t>Les premiers prototypes sont testés. Le cahier des charges est 	clair : la voiture doit être capable de transporter quatre à cinq 	personnes et cinquante kilos de bagages à la vitesse de 50 km. 	Elle devait également pouvoir circuler par tous les temps, sur 	tous types de terrains, comme à travers champs avec un panier 	d'œufs, sans les casser. La maintenance devait être aussi faible 	que possible.</a:t>
            </a:r>
            <a:r>
              <a:rPr lang="fr-FR" altLang="fr-FR" sz="1600" i="1">
                <a:latin typeface="Arial" charset="0"/>
              </a:rPr>
              <a:t>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 sz="1600" i="1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609600"/>
            <a:ext cx="1543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9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1638-3D75-49BE-B273-3A93400B35FE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30723" name="Rectangle 1027"/>
          <p:cNvSpPr>
            <a:spLocks noChangeArrowheads="1"/>
          </p:cNvSpPr>
          <p:nvPr/>
        </p:nvSpPr>
        <p:spPr bwMode="auto">
          <a:xfrm>
            <a:off x="990600" y="2133600"/>
            <a:ext cx="70866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 i="1">
                <a:solidFill>
                  <a:srgbClr val="000000"/>
                </a:solidFill>
                <a:latin typeface="Arial" charset="0"/>
              </a:rPr>
              <a:t>1938</a:t>
            </a:r>
            <a:r>
              <a:rPr lang="fr-FR" altLang="fr-FR" sz="1600" i="1">
                <a:latin typeface="Arial" charset="0"/>
              </a:rPr>
              <a:t>	</a:t>
            </a:r>
            <a:r>
              <a:rPr lang="fr-FR" altLang="fr-FR" sz="1600" i="1">
                <a:solidFill>
                  <a:srgbClr val="000000"/>
                </a:solidFill>
                <a:latin typeface="Arial" charset="0"/>
              </a:rPr>
              <a:t>La première 2CV est équipée d'un seul phare et d'une manivelle 	pour le démarrage.</a:t>
            </a:r>
            <a:r>
              <a:rPr lang="fr-FR" altLang="fr-FR" sz="1600" i="1">
                <a:latin typeface="Arial" charset="0"/>
              </a:rPr>
              <a:t>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 sz="1600" i="1"/>
          </a:p>
        </p:txBody>
      </p:sp>
      <p:grpSp>
        <p:nvGrpSpPr>
          <p:cNvPr id="30728" name="Group 1032"/>
          <p:cNvGrpSpPr>
            <a:grpSpLocks/>
          </p:cNvGrpSpPr>
          <p:nvPr/>
        </p:nvGrpSpPr>
        <p:grpSpPr bwMode="auto">
          <a:xfrm>
            <a:off x="1981200" y="3048000"/>
            <a:ext cx="6791325" cy="3352800"/>
            <a:chOff x="1248" y="1920"/>
            <a:chExt cx="4278" cy="2112"/>
          </a:xfrm>
        </p:grpSpPr>
        <p:pic>
          <p:nvPicPr>
            <p:cNvPr id="30724" name="Picture 102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1920"/>
              <a:ext cx="2880" cy="1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25" name="Picture 102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2784"/>
              <a:ext cx="1206" cy="1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0726" name="Picture 103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09600"/>
            <a:ext cx="1543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8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79338-BCB7-4EC3-A41C-C7342FF8C91D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066800" y="1981200"/>
            <a:ext cx="8077200" cy="261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 i="1">
                <a:solidFill>
                  <a:srgbClr val="000000"/>
                </a:solidFill>
                <a:latin typeface="Arial" charset="0"/>
              </a:rPr>
              <a:t>1948</a:t>
            </a:r>
            <a:r>
              <a:rPr lang="fr-FR" altLang="fr-FR" i="1">
                <a:latin typeface="Arial" charset="0"/>
              </a:rPr>
              <a:t>	</a:t>
            </a:r>
            <a:r>
              <a:rPr lang="fr-FR" altLang="fr-FR" sz="1600" i="1">
                <a:solidFill>
                  <a:srgbClr val="000000"/>
                </a:solidFill>
                <a:latin typeface="Arial" charset="0"/>
              </a:rPr>
              <a:t>Présentation de la 2CV décapotable au Salon de l'automobile par le président 	Pierre Boulanger.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 sz="1600" i="1">
              <a:solidFill>
                <a:srgbClr val="000000"/>
              </a:solidFill>
              <a:latin typeface="Arial" charset="0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 i="1">
                <a:solidFill>
                  <a:srgbClr val="000000"/>
                </a:solidFill>
                <a:latin typeface="Arial" charset="0"/>
              </a:rPr>
              <a:t>1949</a:t>
            </a:r>
            <a:r>
              <a:rPr lang="fr-FR" altLang="fr-FR" sz="1600" i="1">
                <a:solidFill>
                  <a:srgbClr val="000000"/>
                </a:solidFill>
                <a:latin typeface="Arial" charset="0"/>
              </a:rPr>
              <a:t>	C'est un grand succès dès sa sortie d'usine, 971 voitures grises furent 		réalisées cette année.</a:t>
            </a:r>
            <a:br>
              <a:rPr lang="fr-FR" altLang="fr-FR" sz="1600" i="1">
                <a:solidFill>
                  <a:srgbClr val="000000"/>
                </a:solidFill>
                <a:latin typeface="Arial" charset="0"/>
              </a:rPr>
            </a:br>
            <a:r>
              <a:rPr lang="fr-FR" altLang="fr-FR" sz="1600" i="1">
                <a:solidFill>
                  <a:srgbClr val="000000"/>
                </a:solidFill>
                <a:latin typeface="Arial" charset="0"/>
              </a:rPr>
              <a:t>	Après avoir passé commande, le client devait attendre en moyenne trois ans 	d'être livré.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 sz="1600" i="1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267200"/>
            <a:ext cx="3200400" cy="203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267200"/>
            <a:ext cx="27432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09600"/>
            <a:ext cx="1543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E446-59C6-4B67-BD77-A4E409C527DD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066800" y="1981200"/>
            <a:ext cx="6934200" cy="422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5092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4142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3192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1951</a:t>
            </a:r>
            <a:r>
              <a:rPr lang="fr-FR" altLang="fr-FR" sz="1600">
                <a:latin typeface="Arial" charset="0"/>
              </a:rPr>
              <a:t>	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Sortie d'un nouveau modèle, AU la 2CV Van, dont la vitesse 		monte à 60 km/h. Elle est de couleur noire avec des roues 		ivoires et des fauteuils rayés écossais en plastique.</a:t>
            </a:r>
            <a:r>
              <a:rPr lang="fr-FR" altLang="fr-FR" sz="1600">
                <a:latin typeface="Arial" charset="0"/>
              </a:rPr>
              <a:t>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 sz="160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1955</a:t>
            </a:r>
            <a:r>
              <a:rPr lang="fr-FR" altLang="fr-FR" sz="1600">
                <a:latin typeface="Arial" charset="0"/>
              </a:rPr>
              <a:t>	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Le modèle AZ de couleur gris lumineux, sorti l'année 		précédente, a désormais deux feux arrières.</a:t>
            </a:r>
            <a:r>
              <a:rPr lang="fr-FR" altLang="fr-FR" sz="1600">
                <a:latin typeface="Arial" charset="0"/>
              </a:rPr>
              <a:t>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 sz="160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1958</a:t>
            </a:r>
            <a:r>
              <a:rPr lang="fr-FR" altLang="fr-FR" sz="1600">
                <a:latin typeface="Arial" charset="0"/>
              </a:rPr>
              <a:t>	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La 2CV compte plusieurs versions : AZM et AZL, ainsi que la 	2CV Sahara 4´4.</a:t>
            </a:r>
            <a:r>
              <a:rPr lang="fr-FR" altLang="fr-FR" sz="1600">
                <a:latin typeface="Arial" charset="0"/>
              </a:rPr>
              <a:t>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 sz="1600"/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1960</a:t>
            </a:r>
            <a:r>
              <a:rPr lang="fr-FR" altLang="fr-FR" sz="1600">
                <a:latin typeface="Arial" charset="0"/>
              </a:rPr>
              <a:t>	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Citroën propose une deuxième couleur pour</a:t>
            </a:r>
            <a:br>
              <a:rPr lang="fr-FR" altLang="fr-FR" sz="1600">
                <a:solidFill>
                  <a:srgbClr val="000000"/>
                </a:solidFill>
                <a:latin typeface="Arial" charset="0"/>
              </a:rPr>
            </a:b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	 ses 2CV, le bleu glacier.</a:t>
            </a:r>
            <a:r>
              <a:rPr lang="fr-FR" altLang="fr-FR" sz="1600">
                <a:latin typeface="Arial" charset="0"/>
              </a:rPr>
              <a:t>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 sz="160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876800"/>
            <a:ext cx="2590800" cy="17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09600"/>
            <a:ext cx="1543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6A456-BF8A-4800-AF48-F7DB41FB1BEF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990600" y="1981200"/>
            <a:ext cx="6934200" cy="187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1965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	Désormais, les portes avant s ’ouvriront dans le « bon sens ». 	Les voitures montent jusqu'à 85 km/h.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 sz="1600">
              <a:solidFill>
                <a:srgbClr val="000000"/>
              </a:solidFill>
              <a:latin typeface="Arial" charset="0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1967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	La série limitée Export est produite pendant quatre mois.	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endParaRPr lang="fr-FR" altLang="fr-FR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09600"/>
            <a:ext cx="1543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81400"/>
            <a:ext cx="4495800" cy="272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DDEF-5650-40B1-A28E-127782F5A3C8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914400" y="2154238"/>
            <a:ext cx="52197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1968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	 Lancement des 2CV Berline et Commerciale.</a:t>
            </a:r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743200"/>
            <a:ext cx="4572000" cy="322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09600"/>
            <a:ext cx="1543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6437C-940D-4C0E-B925-ED6FC362EA1D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914400" y="2057400"/>
            <a:ext cx="800100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1972</a:t>
            </a:r>
            <a:r>
              <a:rPr lang="fr-FR" altLang="fr-FR" sz="1600">
                <a:latin typeface="Arial" charset="0"/>
              </a:rPr>
              <a:t> 	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Les constructeurs organisent un rallye conçus spécialement pour les jeunes 	propriétaires de 2CV, et qui les mène de Paris à Kaboul, puis sur les traces 	de la Croisière Jaune.</a:t>
            </a:r>
            <a:br>
              <a:rPr lang="fr-FR" altLang="fr-FR" sz="1600">
                <a:solidFill>
                  <a:srgbClr val="000000"/>
                </a:solidFill>
                <a:latin typeface="Arial" charset="0"/>
              </a:rPr>
            </a:b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	Début des " 2CV Cross ", ces courses acrobatiques sur des pistes de terre 	aux tracés en tête d'épingle, où l'on freine le moins possible. Elles 		deviennent rapidement le lieux de rendez-vous des fans de cette petite 	voiture très populaire</a:t>
            </a:r>
          </a:p>
        </p:txBody>
      </p:sp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09600"/>
            <a:ext cx="1543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038600"/>
            <a:ext cx="1776413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9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0CFC-B2A2-4FAB-8248-FB8C19544B4E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1066800" y="1981200"/>
            <a:ext cx="754380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1976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 	Pour annoncer la série spéciale petits prix des 2CV 4 et 2CV 6, la 		voiture est féminisée et personnalisée.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	Cette même année, Citroën lance plusieurs actions commerciales, dont 	l'Ecoplan. C'est un crédit mensuel allant de un à quatre ans selon le 		choix du client. Ce " loyer longue durée " favorise une plus grande 		accessibilité par tous et notamment aux jeunes, aux couples, aux 		familles nombreuses...</a:t>
            </a:r>
            <a:br>
              <a:rPr lang="fr-FR" altLang="fr-FR" sz="1600">
                <a:solidFill>
                  <a:srgbClr val="000000"/>
                </a:solidFill>
                <a:latin typeface="Arial" charset="0"/>
              </a:rPr>
            </a:br>
            <a:endParaRPr lang="fr-FR" altLang="fr-FR" sz="160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267200"/>
            <a:ext cx="1366838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191000"/>
            <a:ext cx="1484313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267200"/>
            <a:ext cx="1401763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4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09600"/>
            <a:ext cx="1543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10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B7F2-5E2D-4BE0-B0AB-4A100863D154}" type="slidenum">
              <a:rPr lang="fr-FR" altLang="fr-FR"/>
              <a:pPr/>
              <a:t>12</a:t>
            </a:fld>
            <a:endParaRPr lang="fr-FR" altLang="fr-FR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743200"/>
            <a:ext cx="1193800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819400"/>
            <a:ext cx="2057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819400"/>
            <a:ext cx="2667000" cy="140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914400" y="1981200"/>
            <a:ext cx="7543800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1980 ’s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 	Plusieurs séries limitées de 2CV sont proposées à la vente 			(Charleston, France 3, Bleu, Blanc Rouge, …).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914400" y="4953000"/>
            <a:ext cx="754380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1987 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 	Arrêt de la fabrication de la 2CV en France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fr-FR" altLang="fr-FR" sz="1600" b="1">
                <a:solidFill>
                  <a:srgbClr val="000000"/>
                </a:solidFill>
                <a:latin typeface="Arial" charset="0"/>
              </a:rPr>
              <a:t>1991</a:t>
            </a:r>
            <a:r>
              <a:rPr lang="fr-FR" altLang="fr-FR" sz="1600">
                <a:solidFill>
                  <a:srgbClr val="000000"/>
                </a:solidFill>
                <a:latin typeface="Arial" charset="0"/>
              </a:rPr>
              <a:t>	La dernière 2CV sort des chaînes de production portugaises.</a:t>
            </a:r>
          </a:p>
        </p:txBody>
      </p:sp>
      <p:pic>
        <p:nvPicPr>
          <p:cNvPr id="25609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09600"/>
            <a:ext cx="15430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8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C6767-7CAB-44B8-9C1C-B53E99D26533}" type="slidenum">
              <a:rPr lang="fr-FR" altLang="fr-FR"/>
              <a:pPr/>
              <a:t>13</a:t>
            </a:fld>
            <a:endParaRPr lang="fr-FR" altLang="fr-FR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3716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fr-FR" altLang="fr-FR" sz="2000" b="1"/>
              <a:t>VOLUME DES VENTES DE LA 2CV de 1949 à 1987</a:t>
            </a:r>
            <a:endParaRPr lang="fr-FR" altLang="fr-FR"/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457200" y="1295400"/>
          <a:ext cx="8686800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ique" r:id="rId3" imgW="7267877" imgH="4353445" progId="MSGraph.Chart.8">
                  <p:embed/>
                </p:oleObj>
              </mc:Choice>
              <mc:Fallback>
                <p:oleObj name="Graphique" r:id="rId3" imgW="7267877" imgH="4353445" progId="MSGraph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8686800" cy="556260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000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57200"/>
            <a:ext cx="657225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09600"/>
            <a:ext cx="914400" cy="56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24579" grpId="0" bld="category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CC4A-9C99-4559-8BD4-E33E6C55048F}" type="slidenum">
              <a:rPr lang="fr-FR" altLang="fr-FR"/>
              <a:pPr/>
              <a:t>14</a:t>
            </a:fld>
            <a:endParaRPr lang="fr-FR" altLang="fr-FR"/>
          </a:p>
        </p:txBody>
      </p:sp>
      <p:pic>
        <p:nvPicPr>
          <p:cNvPr id="45059" name="Picture 3" descr="C:\Mes documents\Cours Jean-Christophe\Terminale STT\Commerce\Partie 4. La cohérence de l'action commerciale\L'action par le produit\cycle de vie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62200"/>
            <a:ext cx="6880225" cy="344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990600" y="3810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fr-FR" altLang="fr-FR" sz="1400"/>
              <a:t>Paragraphe 2. La vie du produit</a:t>
            </a:r>
            <a:br>
              <a:rPr lang="fr-FR" altLang="fr-FR" sz="1400"/>
            </a:br>
            <a:br>
              <a:rPr lang="fr-FR" altLang="fr-FR" sz="1400"/>
            </a:br>
            <a:r>
              <a:rPr lang="fr-FR" altLang="fr-FR" sz="1400"/>
              <a:t>		</a:t>
            </a:r>
            <a:r>
              <a:rPr lang="fr-FR" altLang="fr-FR" sz="1400" i="1"/>
              <a:t>A. La courbe de vie du produit</a:t>
            </a:r>
            <a:endParaRPr lang="fr-FR" alt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fr-FR"/>
              <a:t>L'action par le produit</a:t>
            </a:r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25D79-A618-4B14-9B5F-5CCACFFF213A}" type="slidenum">
              <a:rPr lang="fr-FR" altLang="fr-FR"/>
              <a:pPr/>
              <a:t>15</a:t>
            </a:fld>
            <a:endParaRPr lang="fr-FR" altLang="fr-FR"/>
          </a:p>
        </p:txBody>
      </p:sp>
      <p:pic>
        <p:nvPicPr>
          <p:cNvPr id="21507" name="Picture 3" descr="C:\Mes documents\Cours Jean-Christophe\Terminale STT\Commerce\Partie 4. La cohérence de l'action commerciale\L'action par le produit\cycle de vie produit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1440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990600" y="3810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 Narrow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fr-FR" altLang="fr-FR" sz="1400"/>
              <a:t>Paragraphe 2. La vie du produit</a:t>
            </a:r>
            <a:br>
              <a:rPr lang="fr-FR" altLang="fr-FR" sz="1400"/>
            </a:br>
            <a:br>
              <a:rPr lang="fr-FR" altLang="fr-FR" sz="1400"/>
            </a:br>
            <a:r>
              <a:rPr lang="fr-FR" altLang="fr-FR" sz="1400"/>
              <a:t>		</a:t>
            </a:r>
            <a:r>
              <a:rPr lang="fr-FR" altLang="fr-FR" sz="1400" i="1"/>
              <a:t>A. La courbe de vie du produit</a:t>
            </a:r>
            <a:endParaRPr lang="fr-FR" alt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duit">
  <a:themeElements>
    <a:clrScheme name="produit 2">
      <a:dk1>
        <a:srgbClr val="000000"/>
      </a:dk1>
      <a:lt1>
        <a:srgbClr val="FFFFFF"/>
      </a:lt1>
      <a:dk2>
        <a:srgbClr val="000000"/>
      </a:dk2>
      <a:lt2>
        <a:srgbClr val="006600"/>
      </a:lt2>
      <a:accent1>
        <a:srgbClr val="F5EBC1"/>
      </a:accent1>
      <a:accent2>
        <a:srgbClr val="FFCC00"/>
      </a:accent2>
      <a:accent3>
        <a:srgbClr val="FFFFFF"/>
      </a:accent3>
      <a:accent4>
        <a:srgbClr val="000000"/>
      </a:accent4>
      <a:accent5>
        <a:srgbClr val="F9F3DD"/>
      </a:accent5>
      <a:accent6>
        <a:srgbClr val="E7B900"/>
      </a:accent6>
      <a:hlink>
        <a:srgbClr val="D4876C"/>
      </a:hlink>
      <a:folHlink>
        <a:srgbClr val="B2B2B2"/>
      </a:folHlink>
    </a:clrScheme>
    <a:fontScheme name="produit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roduit 1">
        <a:dk1>
          <a:srgbClr val="FF9900"/>
        </a:dk1>
        <a:lt1>
          <a:srgbClr val="FFFFCC"/>
        </a:lt1>
        <a:dk2>
          <a:srgbClr val="000000"/>
        </a:dk2>
        <a:lt2>
          <a:srgbClr val="FFCC00"/>
        </a:lt2>
        <a:accent1>
          <a:srgbClr val="6B6253"/>
        </a:accent1>
        <a:accent2>
          <a:srgbClr val="72543E"/>
        </a:accent2>
        <a:accent3>
          <a:srgbClr val="AAAAAA"/>
        </a:accent3>
        <a:accent4>
          <a:srgbClr val="DADAAE"/>
        </a:accent4>
        <a:accent5>
          <a:srgbClr val="BAB7B3"/>
        </a:accent5>
        <a:accent6>
          <a:srgbClr val="674B37"/>
        </a:accent6>
        <a:hlink>
          <a:srgbClr val="DA988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duit 2">
        <a:dk1>
          <a:srgbClr val="000000"/>
        </a:dk1>
        <a:lt1>
          <a:srgbClr val="FFFFFF"/>
        </a:lt1>
        <a:dk2>
          <a:srgbClr val="000000"/>
        </a:dk2>
        <a:lt2>
          <a:srgbClr val="006600"/>
        </a:lt2>
        <a:accent1>
          <a:srgbClr val="F5EBC1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9F3DD"/>
        </a:accent5>
        <a:accent6>
          <a:srgbClr val="E7B900"/>
        </a:accent6>
        <a:hlink>
          <a:srgbClr val="D4876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duit 3">
        <a:dk1>
          <a:srgbClr val="000000"/>
        </a:dk1>
        <a:lt1>
          <a:srgbClr val="FFFFFF"/>
        </a:lt1>
        <a:dk2>
          <a:srgbClr val="000000"/>
        </a:dk2>
        <a:lt2>
          <a:srgbClr val="292929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duit 4">
        <a:dk1>
          <a:srgbClr val="000000"/>
        </a:dk1>
        <a:lt1>
          <a:srgbClr val="FFFFFF"/>
        </a:lt1>
        <a:dk2>
          <a:srgbClr val="000000"/>
        </a:dk2>
        <a:lt2>
          <a:srgbClr val="006600"/>
        </a:lt2>
        <a:accent1>
          <a:srgbClr val="D8EBB3"/>
        </a:accent1>
        <a:accent2>
          <a:srgbClr val="CCCC00"/>
        </a:accent2>
        <a:accent3>
          <a:srgbClr val="FFFFFF"/>
        </a:accent3>
        <a:accent4>
          <a:srgbClr val="000000"/>
        </a:accent4>
        <a:accent5>
          <a:srgbClr val="E9F3D6"/>
        </a:accent5>
        <a:accent6>
          <a:srgbClr val="B9B900"/>
        </a:accent6>
        <a:hlink>
          <a:srgbClr val="FFBE7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duit 5">
        <a:dk1>
          <a:srgbClr val="000000"/>
        </a:dk1>
        <a:lt1>
          <a:srgbClr val="E5D3B3"/>
        </a:lt1>
        <a:dk2>
          <a:srgbClr val="800000"/>
        </a:dk2>
        <a:lt2>
          <a:srgbClr val="009900"/>
        </a:lt2>
        <a:accent1>
          <a:srgbClr val="D5B095"/>
        </a:accent1>
        <a:accent2>
          <a:srgbClr val="E28666"/>
        </a:accent2>
        <a:accent3>
          <a:srgbClr val="F0E6D6"/>
        </a:accent3>
        <a:accent4>
          <a:srgbClr val="000000"/>
        </a:accent4>
        <a:accent5>
          <a:srgbClr val="E7D4C8"/>
        </a:accent5>
        <a:accent6>
          <a:srgbClr val="CD795C"/>
        </a:accent6>
        <a:hlink>
          <a:srgbClr val="B75735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duit 6">
        <a:dk1>
          <a:srgbClr val="99CC00"/>
        </a:dk1>
        <a:lt1>
          <a:srgbClr val="FFFFFF"/>
        </a:lt1>
        <a:dk2>
          <a:srgbClr val="51399D"/>
        </a:dk2>
        <a:lt2>
          <a:srgbClr val="FFFFCC"/>
        </a:lt2>
        <a:accent1>
          <a:srgbClr val="877CAA"/>
        </a:accent1>
        <a:accent2>
          <a:srgbClr val="000058"/>
        </a:accent2>
        <a:accent3>
          <a:srgbClr val="B3AECC"/>
        </a:accent3>
        <a:accent4>
          <a:srgbClr val="DADADA"/>
        </a:accent4>
        <a:accent5>
          <a:srgbClr val="C3BFD2"/>
        </a:accent5>
        <a:accent6>
          <a:srgbClr val="00004F"/>
        </a:accent6>
        <a:hlink>
          <a:srgbClr val="FFCC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roduit 2">
    <a:dk1>
      <a:srgbClr val="000000"/>
    </a:dk1>
    <a:lt1>
      <a:srgbClr val="FFFFFF"/>
    </a:lt1>
    <a:dk2>
      <a:srgbClr val="000000"/>
    </a:dk2>
    <a:lt2>
      <a:srgbClr val="006600"/>
    </a:lt2>
    <a:accent1>
      <a:srgbClr val="F5EBC1"/>
    </a:accent1>
    <a:accent2>
      <a:srgbClr val="FFCC00"/>
    </a:accent2>
    <a:accent3>
      <a:srgbClr val="FFFFFF"/>
    </a:accent3>
    <a:accent4>
      <a:srgbClr val="000000"/>
    </a:accent4>
    <a:accent5>
      <a:srgbClr val="F9F3DD"/>
    </a:accent5>
    <a:accent6>
      <a:srgbClr val="E7B900"/>
    </a:accent6>
    <a:hlink>
      <a:srgbClr val="D4876C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Office\Modèles\Modèles de présentation\produit.pot</Template>
  <TotalTime>1085</TotalTime>
  <Words>771</Words>
  <Application>Microsoft Office PowerPoint</Application>
  <PresentationFormat>Affichage à l'écran (4:3)</PresentationFormat>
  <Paragraphs>77</Paragraphs>
  <Slides>15</Slides>
  <Notes>15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Arial Narrow</vt:lpstr>
      <vt:lpstr>Simpson</vt:lpstr>
      <vt:lpstr>Times New Roman</vt:lpstr>
      <vt:lpstr>produit</vt:lpstr>
      <vt:lpstr>Graphique</vt:lpstr>
      <vt:lpstr>Le cycle de vie du produit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Personnel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1. L ’action par le produit</dc:title>
  <dc:creator>JC Duflanc</dc:creator>
  <cp:lastModifiedBy>MULLER CHRISTOPHE</cp:lastModifiedBy>
  <cp:revision>30</cp:revision>
  <cp:lastPrinted>2002-11-09T10:37:08Z</cp:lastPrinted>
  <dcterms:created xsi:type="dcterms:W3CDTF">2002-10-09T20:00:33Z</dcterms:created>
  <dcterms:modified xsi:type="dcterms:W3CDTF">2022-09-09T08:41:44Z</dcterms:modified>
</cp:coreProperties>
</file>